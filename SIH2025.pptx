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29C28-9E37-42B6-B4B9-460D70D6ED0C}" v="7" dt="2025-09-30T11:42:09.899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29" y="8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av Programmers" userId="3e13316bb8609731" providerId="LiveId" clId="{367864E4-536A-4742-AFF3-271CB2AFEE4E}"/>
    <pc:docChg chg="undo custSel modSld">
      <pc:chgData name="Aarav Programmers" userId="3e13316bb8609731" providerId="LiveId" clId="{367864E4-536A-4742-AFF3-271CB2AFEE4E}" dt="2025-09-30T11:42:52.522" v="379" actId="2711"/>
      <pc:docMkLst>
        <pc:docMk/>
      </pc:docMkLst>
      <pc:sldChg chg="modSp mod">
        <pc:chgData name="Aarav Programmers" userId="3e13316bb8609731" providerId="LiveId" clId="{367864E4-536A-4742-AFF3-271CB2AFEE4E}" dt="2025-09-25T18:20:42.103" v="25" actId="1076"/>
        <pc:sldMkLst>
          <pc:docMk/>
          <pc:sldMk cId="0" sldId="281"/>
        </pc:sldMkLst>
        <pc:picChg chg="mod">
          <ac:chgData name="Aarav Programmers" userId="3e13316bb8609731" providerId="LiveId" clId="{367864E4-536A-4742-AFF3-271CB2AFEE4E}" dt="2025-09-25T18:20:42.103" v="25" actId="1076"/>
          <ac:picMkLst>
            <pc:docMk/>
            <pc:sldMk cId="0" sldId="281"/>
            <ac:picMk id="8" creationId="{1EC7A7FD-5264-B16F-2468-BFCBED9B6196}"/>
          </ac:picMkLst>
        </pc:picChg>
      </pc:sldChg>
      <pc:sldChg chg="addSp delSp modSp mod">
        <pc:chgData name="Aarav Programmers" userId="3e13316bb8609731" providerId="LiveId" clId="{367864E4-536A-4742-AFF3-271CB2AFEE4E}" dt="2025-09-30T09:49:13.693" v="361" actId="20577"/>
        <pc:sldMkLst>
          <pc:docMk/>
          <pc:sldMk cId="0" sldId="290"/>
        </pc:sldMkLst>
        <pc:spChg chg="mod">
          <ac:chgData name="Aarav Programmers" userId="3e13316bb8609731" providerId="LiveId" clId="{367864E4-536A-4742-AFF3-271CB2AFEE4E}" dt="2025-09-30T09:49:13.693" v="361" actId="20577"/>
          <ac:spMkLst>
            <pc:docMk/>
            <pc:sldMk cId="0" sldId="290"/>
            <ac:spMk id="18" creationId="{58A8225C-2105-D93C-318D-53E0384DA0CB}"/>
          </ac:spMkLst>
        </pc:spChg>
        <pc:picChg chg="mod">
          <ac:chgData name="Aarav Programmers" userId="3e13316bb8609731" providerId="LiveId" clId="{367864E4-536A-4742-AFF3-271CB2AFEE4E}" dt="2025-09-29T13:28:55.639" v="291" actId="1076"/>
          <ac:picMkLst>
            <pc:docMk/>
            <pc:sldMk cId="0" sldId="290"/>
            <ac:picMk id="17" creationId="{11F3C3B1-A7C8-8082-7E30-C51E8099D41D}"/>
          </ac:picMkLst>
        </pc:picChg>
        <pc:picChg chg="del">
          <ac:chgData name="Aarav Programmers" userId="3e13316bb8609731" providerId="LiveId" clId="{367864E4-536A-4742-AFF3-271CB2AFEE4E}" dt="2025-09-29T13:25:48.580" v="177" actId="478"/>
          <ac:picMkLst>
            <pc:docMk/>
            <pc:sldMk cId="0" sldId="290"/>
            <ac:picMk id="23" creationId="{A5356457-47C2-A7B0-2037-BB67B7FC1CFF}"/>
          </ac:picMkLst>
        </pc:picChg>
        <pc:picChg chg="mod">
          <ac:chgData name="Aarav Programmers" userId="3e13316bb8609731" providerId="LiveId" clId="{367864E4-536A-4742-AFF3-271CB2AFEE4E}" dt="2025-09-29T13:25:53.209" v="178" actId="1076"/>
          <ac:picMkLst>
            <pc:docMk/>
            <pc:sldMk cId="0" sldId="290"/>
            <ac:picMk id="25" creationId="{C56B1A1F-7A2C-E058-FF48-2EA5B31D28AD}"/>
          </ac:picMkLst>
        </pc:picChg>
        <pc:picChg chg="mod">
          <ac:chgData name="Aarav Programmers" userId="3e13316bb8609731" providerId="LiveId" clId="{367864E4-536A-4742-AFF3-271CB2AFEE4E}" dt="2025-09-29T13:25:58.469" v="179" actId="1076"/>
          <ac:picMkLst>
            <pc:docMk/>
            <pc:sldMk cId="0" sldId="290"/>
            <ac:picMk id="27" creationId="{DD04B0C3-44DF-E67C-22F4-1329C0AEFF74}"/>
          </ac:picMkLst>
        </pc:picChg>
        <pc:picChg chg="mod">
          <ac:chgData name="Aarav Programmers" userId="3e13316bb8609731" providerId="LiveId" clId="{367864E4-536A-4742-AFF3-271CB2AFEE4E}" dt="2025-09-29T13:25:44.089" v="176" actId="1076"/>
          <ac:picMkLst>
            <pc:docMk/>
            <pc:sldMk cId="0" sldId="290"/>
            <ac:picMk id="31" creationId="{4DCA890B-0FC2-0D3B-378E-8FBFF183DBF6}"/>
          </ac:picMkLst>
        </pc:picChg>
        <pc:picChg chg="mod">
          <ac:chgData name="Aarav Programmers" userId="3e13316bb8609731" providerId="LiveId" clId="{367864E4-536A-4742-AFF3-271CB2AFEE4E}" dt="2025-09-29T13:28:55.639" v="291" actId="1076"/>
          <ac:picMkLst>
            <pc:docMk/>
            <pc:sldMk cId="0" sldId="290"/>
            <ac:picMk id="39" creationId="{8C05870D-E9ED-F84F-FECD-9D3DB3DD234F}"/>
          </ac:picMkLst>
        </pc:picChg>
        <pc:picChg chg="mod">
          <ac:chgData name="Aarav Programmers" userId="3e13316bb8609731" providerId="LiveId" clId="{367864E4-536A-4742-AFF3-271CB2AFEE4E}" dt="2025-09-29T13:28:55.639" v="291" actId="1076"/>
          <ac:picMkLst>
            <pc:docMk/>
            <pc:sldMk cId="0" sldId="290"/>
            <ac:picMk id="1028" creationId="{2A17EFED-D9B3-319E-8779-EC142CC1F703}"/>
          </ac:picMkLst>
        </pc:picChg>
        <pc:picChg chg="del">
          <ac:chgData name="Aarav Programmers" userId="3e13316bb8609731" providerId="LiveId" clId="{367864E4-536A-4742-AFF3-271CB2AFEE4E}" dt="2025-09-29T13:25:38.815" v="175" actId="478"/>
          <ac:picMkLst>
            <pc:docMk/>
            <pc:sldMk cId="0" sldId="290"/>
            <ac:picMk id="1042" creationId="{BD1F7E48-BB06-D267-25E0-C601E8F2893D}"/>
          </ac:picMkLst>
        </pc:picChg>
        <pc:cxnChg chg="add mod">
          <ac:chgData name="Aarav Programmers" userId="3e13316bb8609731" providerId="LiveId" clId="{367864E4-536A-4742-AFF3-271CB2AFEE4E}" dt="2025-09-25T18:20:03.368" v="23" actId="1076"/>
          <ac:cxnSpMkLst>
            <pc:docMk/>
            <pc:sldMk cId="0" sldId="290"/>
            <ac:cxnSpMk id="13" creationId="{2478EAE0-08B3-8421-F77E-83A5F2AF2ABD}"/>
          </ac:cxnSpMkLst>
        </pc:cxnChg>
      </pc:sldChg>
      <pc:sldChg chg="modSp mod">
        <pc:chgData name="Aarav Programmers" userId="3e13316bb8609731" providerId="LiveId" clId="{367864E4-536A-4742-AFF3-271CB2AFEE4E}" dt="2025-09-30T11:42:52.522" v="379" actId="2711"/>
        <pc:sldMkLst>
          <pc:docMk/>
          <pc:sldMk cId="0" sldId="291"/>
        </pc:sldMkLst>
        <pc:spChg chg="mod">
          <ac:chgData name="Aarav Programmers" userId="3e13316bb8609731" providerId="LiveId" clId="{367864E4-536A-4742-AFF3-271CB2AFEE4E}" dt="2025-09-30T11:42:52.522" v="379" actId="2711"/>
          <ac:spMkLst>
            <pc:docMk/>
            <pc:sldMk cId="0" sldId="291"/>
            <ac:spMk id="10" creationId="{00000000-0000-0000-0000-000000000000}"/>
          </ac:spMkLst>
        </pc:spChg>
      </pc:sldChg>
      <pc:sldChg chg="modSp mod">
        <pc:chgData name="Aarav Programmers" userId="3e13316bb8609731" providerId="LiveId" clId="{367864E4-536A-4742-AFF3-271CB2AFEE4E}" dt="2025-09-25T18:18:43.824" v="16" actId="14100"/>
        <pc:sldMkLst>
          <pc:docMk/>
          <pc:sldMk cId="2997144140" sldId="294"/>
        </pc:sldMkLst>
        <pc:picChg chg="mod">
          <ac:chgData name="Aarav Programmers" userId="3e13316bb8609731" providerId="LiveId" clId="{367864E4-536A-4742-AFF3-271CB2AFEE4E}" dt="2025-09-25T18:18:43.824" v="16" actId="14100"/>
          <ac:picMkLst>
            <pc:docMk/>
            <pc:sldMk cId="2997144140" sldId="294"/>
            <ac:picMk id="14" creationId="{407DA402-E2D2-E0A6-FF51-CB6232049993}"/>
          </ac:picMkLst>
        </pc:picChg>
      </pc:sldChg>
      <pc:sldChg chg="modSp mod">
        <pc:chgData name="Aarav Programmers" userId="3e13316bb8609731" providerId="LiveId" clId="{367864E4-536A-4742-AFF3-271CB2AFEE4E}" dt="2025-09-29T13:34:28.233" v="296" actId="20577"/>
        <pc:sldMkLst>
          <pc:docMk/>
          <pc:sldMk cId="3916788613" sldId="296"/>
        </pc:sldMkLst>
        <pc:spChg chg="mod">
          <ac:chgData name="Aarav Programmers" userId="3e13316bb8609731" providerId="LiveId" clId="{367864E4-536A-4742-AFF3-271CB2AFEE4E}" dt="2025-09-25T18:21:00.246" v="26" actId="313"/>
          <ac:spMkLst>
            <pc:docMk/>
            <pc:sldMk cId="3916788613" sldId="296"/>
            <ac:spMk id="12" creationId="{C8425CE3-D1C2-BAC0-4754-AAC3562D53C4}"/>
          </ac:spMkLst>
        </pc:spChg>
        <pc:spChg chg="mod">
          <ac:chgData name="Aarav Programmers" userId="3e13316bb8609731" providerId="LiveId" clId="{367864E4-536A-4742-AFF3-271CB2AFEE4E}" dt="2025-09-29T13:34:28.233" v="296" actId="20577"/>
          <ac:spMkLst>
            <pc:docMk/>
            <pc:sldMk cId="3916788613" sldId="296"/>
            <ac:spMk id="17410" creationId="{00000000-0000-0000-0000-000000000000}"/>
          </ac:spMkLst>
        </pc:spChg>
        <pc:graphicFrameChg chg="mod modGraphic">
          <ac:chgData name="Aarav Programmers" userId="3e13316bb8609731" providerId="LiveId" clId="{367864E4-536A-4742-AFF3-271CB2AFEE4E}" dt="2025-09-25T18:17:39.148" v="11" actId="255"/>
          <ac:graphicFrameMkLst>
            <pc:docMk/>
            <pc:sldMk cId="3916788613" sldId="296"/>
            <ac:graphicFrameMk id="5" creationId="{797411E3-D1D1-3FE8-E7E4-71B82623B1B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forum.org/stories/2024/01/how-indias-ai-agriculture-boom-could-inspire-the-world/" TargetMode="External"/><Relationship Id="rId3" Type="http://schemas.openxmlformats.org/officeDocument/2006/relationships/hyperlink" Target="https://data.gov.in/" TargetMode="External"/><Relationship Id="rId7" Type="http://schemas.openxmlformats.org/officeDocument/2006/relationships/hyperlink" Target="https://www.frontiersin.org/journals/plant-science/articles/10.3389/fpls.2023.1128388/ful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aarya0809/crop-yield-prediction-in-india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openweathermap.org/api" TargetMode="External"/><Relationship Id="rId10" Type="http://schemas.openxmlformats.org/officeDocument/2006/relationships/hyperlink" Target="https://thedialogue.co/wp-content/uploads/2023/08/AgriTech-White-Paper.pdf#:~:text=The%20AgriTech%20market%20in%20India%20is%20teeming%20with,at%20a%20staggering%20US%24%2024%20billion%20by%202025.5" TargetMode="External"/><Relationship Id="rId4" Type="http://schemas.openxmlformats.org/officeDocument/2006/relationships/hyperlink" Target="https://icar.org.in/" TargetMode="External"/><Relationship Id="rId9" Type="http://schemas.openxmlformats.org/officeDocument/2006/relationships/hyperlink" Target="https://initiatives.weforum.org/ai4ai/telangan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1691" y="39187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772" y="1221892"/>
            <a:ext cx="11860714" cy="4688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SIH25045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Supply Chain Transparency for Agricultural Produce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FoodTech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Rural Development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91642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Coders_SVIT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3795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627185"/>
            <a:ext cx="7164728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/ Solution / Prototype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AI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crop yield prediction &amp; farming optimization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Integrates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yield data + real-time weather APIs + soil health metrics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Provides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(irrigation, fertilization, pest control)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🗣️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Multilanguage UI (Hindi + English + …)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accessibility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Helps farmers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yield in advance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plan better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🌦️ Reduces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losses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unpredictable weather &amp; poor input management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🧮 Ensures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guesswork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🌾 Delivers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&amp; crop-specific insights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(starting with Hindi) → wider adoption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🛰️ Combines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+ satellite/soil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accurate forecasts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AI/ML-driven personalized advisories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generic tips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solution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works for all crops across India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Farmer-friendly design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simple dashboard, icons &amp; alerts</a:t>
            </a:r>
          </a:p>
          <a:p>
            <a:endParaRPr lang="en-US" sz="1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688282-2D3C-EC44-617D-6CAE6EA7CA58}"/>
              </a:ext>
            </a:extLst>
          </p:cNvPr>
          <p:cNvSpPr txBox="1"/>
          <p:nvPr/>
        </p:nvSpPr>
        <p:spPr>
          <a:xfrm>
            <a:off x="0" y="993037"/>
            <a:ext cx="4305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C7A7FD-5264-B16F-2468-BFCBED9B6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953" y="1532815"/>
            <a:ext cx="5293533" cy="4685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D7280F-24BA-BD30-C0D4-485E154C4C11}"/>
              </a:ext>
            </a:extLst>
          </p:cNvPr>
          <p:cNvSpPr txBox="1"/>
          <p:nvPr/>
        </p:nvSpPr>
        <p:spPr>
          <a:xfrm>
            <a:off x="141514" y="1030883"/>
            <a:ext cx="40238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Technology Stack</a:t>
            </a:r>
          </a:p>
          <a:p>
            <a:endParaRPr lang="en-IN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58A8225C-2105-D93C-318D-53E0384DA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7" y="1510881"/>
            <a:ext cx="59327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Scan Crop to check crop status, pest attacks and growth of crop</a:t>
            </a:r>
          </a:p>
          <a:p>
            <a:endParaRPr lang="en-IN" sz="1400" b="1" dirty="0"/>
          </a:p>
          <a:p>
            <a:r>
              <a:rPr lang="en-IN" sz="1400" b="1" dirty="0"/>
              <a:t>Languages:</a:t>
            </a:r>
            <a:r>
              <a:rPr lang="en-IN" sz="1400" dirty="0"/>
              <a:t> Python, JavaScript</a:t>
            </a:r>
          </a:p>
          <a:p>
            <a:endParaRPr lang="en-IN" sz="1400" dirty="0"/>
          </a:p>
          <a:p>
            <a:r>
              <a:rPr lang="en-IN" sz="1400" b="1" dirty="0"/>
              <a:t>Libraries/Frameworks:</a:t>
            </a:r>
            <a:r>
              <a:rPr lang="en-IN" sz="1400" dirty="0"/>
              <a:t> TensorFlow, </a:t>
            </a:r>
            <a:r>
              <a:rPr lang="en-IN" sz="1400" dirty="0" err="1"/>
              <a:t>PyTorch</a:t>
            </a:r>
            <a:r>
              <a:rPr lang="en-IN" sz="1400" dirty="0"/>
              <a:t>, Scikit-learn, Pandas, NumPy, Flask, Django, React.js, Bootstrap/Tailwind</a:t>
            </a:r>
          </a:p>
          <a:p>
            <a:br>
              <a:rPr lang="en-IN" sz="1400" dirty="0"/>
            </a:br>
            <a:r>
              <a:rPr lang="en-IN" sz="1400" b="1" dirty="0"/>
              <a:t>Databases:</a:t>
            </a:r>
            <a:r>
              <a:rPr lang="en-IN" sz="1400" dirty="0"/>
              <a:t> MYSQL, Cloud Storage (GCP)</a:t>
            </a:r>
          </a:p>
          <a:p>
            <a:br>
              <a:rPr lang="en-IN" sz="1400" dirty="0"/>
            </a:br>
            <a:r>
              <a:rPr lang="en-IN" sz="1400" b="1" dirty="0"/>
              <a:t>APIs/Data:</a:t>
            </a:r>
            <a:r>
              <a:rPr lang="en-IN" sz="1400" dirty="0"/>
              <a:t> </a:t>
            </a:r>
            <a:r>
              <a:rPr lang="en-IN" sz="1400" dirty="0" err="1"/>
              <a:t>OpenWeatherMap</a:t>
            </a:r>
            <a:r>
              <a:rPr lang="en-IN" sz="1400" dirty="0"/>
              <a:t>, </a:t>
            </a:r>
            <a:r>
              <a:rPr lang="en-IN" sz="1400" dirty="0" err="1"/>
              <a:t>AgroMonitoring</a:t>
            </a:r>
            <a:r>
              <a:rPr lang="en-IN" sz="1400" dirty="0"/>
              <a:t>, Google Earth Engine, Govt Data (Data.gov.in, ICAR), Kaggle, Google Vision</a:t>
            </a:r>
          </a:p>
          <a:p>
            <a:br>
              <a:rPr lang="en-IN" sz="1400" dirty="0"/>
            </a:br>
            <a:r>
              <a:rPr lang="en-IN" sz="1400" b="1" dirty="0"/>
              <a:t>Cloud/Deployment:</a:t>
            </a:r>
            <a:r>
              <a:rPr lang="en-IN" sz="1400" dirty="0"/>
              <a:t> GCP</a:t>
            </a:r>
          </a:p>
          <a:p>
            <a:br>
              <a:rPr lang="en-IN" sz="1400" dirty="0"/>
            </a:br>
            <a:r>
              <a:rPr lang="en-IN" sz="1400" b="1" dirty="0"/>
              <a:t>Tools</a:t>
            </a:r>
            <a:r>
              <a:rPr lang="en-IN" sz="1400" b="1"/>
              <a:t>:</a:t>
            </a:r>
            <a:r>
              <a:rPr lang="en-IN" sz="1400"/>
              <a:t> GitHub, </a:t>
            </a:r>
            <a:r>
              <a:rPr lang="en-IN" sz="1400" dirty="0" err="1"/>
              <a:t>TensorBoard</a:t>
            </a:r>
            <a:r>
              <a:rPr lang="en-IN" sz="1400" dirty="0"/>
              <a:t>, Power BI.</a:t>
            </a:r>
          </a:p>
          <a:p>
            <a:endParaRPr lang="en-IN" sz="1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17EFED-D9B3-319E-8779-EC142CC1F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612" y="5071306"/>
            <a:ext cx="781592" cy="43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F3C3B1-A7C8-8082-7E30-C51E8099D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880" y="5041569"/>
            <a:ext cx="451154" cy="4586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6B1A1F-7A2C-E058-FF48-2EA5B31D2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3443" y="5723806"/>
            <a:ext cx="791090" cy="4479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D04B0C3-44DF-E67C-22F4-1329C0AEF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196" y="5581192"/>
            <a:ext cx="381960" cy="59308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3F8B60-88D0-00DA-8FA6-4BB0481F19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3634" y="5000976"/>
            <a:ext cx="371011" cy="53979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CA890B-0FC2-0D3B-378E-8FBFF183D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9873" y="5706881"/>
            <a:ext cx="536014" cy="5375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3AB986-1CF8-EB4A-3094-8FD80CFF9E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25" y="4967845"/>
            <a:ext cx="559440" cy="54310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05870D-E9ED-F84F-FECD-9D3DB3DD23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939" y="5010776"/>
            <a:ext cx="559441" cy="52999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D7A0A08-4C79-B305-B141-6BAE317130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7476" y="4986539"/>
            <a:ext cx="507162" cy="52441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BD6EB5-A534-87E2-98D6-7B9D971076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8539" y="5000976"/>
            <a:ext cx="592472" cy="509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C2F13F-6C1C-C9C5-EF38-772148C24D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9362" y="1226612"/>
            <a:ext cx="5030988" cy="2351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2BCA2E-3E1A-BB4D-F3D2-6452D8FB227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9362" y="3707194"/>
            <a:ext cx="5030988" cy="24326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78EAE0-08B3-8421-F77E-83A5F2AF2ABD}"/>
              </a:ext>
            </a:extLst>
          </p:cNvPr>
          <p:cNvCxnSpPr/>
          <p:nvPr/>
        </p:nvCxnSpPr>
        <p:spPr>
          <a:xfrm>
            <a:off x="6407150" y="3635451"/>
            <a:ext cx="55417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A788D-0056-19E2-ED9C-3277344121A7}"/>
              </a:ext>
            </a:extLst>
          </p:cNvPr>
          <p:cNvSpPr txBox="1"/>
          <p:nvPr/>
        </p:nvSpPr>
        <p:spPr>
          <a:xfrm>
            <a:off x="159108" y="1674437"/>
            <a:ext cx="5397631" cy="2009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/>
              <a:t>1. Feasibility Analysis</a:t>
            </a:r>
            <a:br>
              <a:rPr lang="en-IN" sz="1600" b="1" dirty="0"/>
            </a:br>
            <a:r>
              <a:rPr lang="en-IN" sz="1600" dirty="0"/>
              <a:t>📡 </a:t>
            </a:r>
            <a:r>
              <a:rPr lang="en-IN" sz="1600" b="1" dirty="0"/>
              <a:t>Technical</a:t>
            </a:r>
            <a:r>
              <a:rPr lang="en-IN" sz="1600" dirty="0"/>
              <a:t> – AI/ML models + real-time weather/soil/satellite APIs, web-first(mobile &amp; PC).</a:t>
            </a:r>
            <a:br>
              <a:rPr lang="en-IN" sz="1600" dirty="0"/>
            </a:br>
            <a:r>
              <a:rPr lang="en-IN" sz="1600" dirty="0"/>
              <a:t>💰 </a:t>
            </a:r>
            <a:r>
              <a:rPr lang="en-IN" sz="1600" b="1" dirty="0"/>
              <a:t>Economic</a:t>
            </a:r>
            <a:r>
              <a:rPr lang="en-IN" sz="1600" dirty="0"/>
              <a:t> – Uses open/free datasets &amp; cloud → low-cost, scalable, affordable via freemium/govt support.</a:t>
            </a:r>
            <a:br>
              <a:rPr lang="en-IN" sz="1600" dirty="0"/>
            </a:br>
            <a:r>
              <a:rPr lang="en-IN" sz="1600" dirty="0"/>
              <a:t>⚙️ </a:t>
            </a:r>
            <a:r>
              <a:rPr lang="en-IN" sz="1600" b="1" dirty="0"/>
              <a:t>Operational</a:t>
            </a:r>
            <a:r>
              <a:rPr lang="en-IN" sz="1600" dirty="0"/>
              <a:t> – 875M+ smartphone users, bilingual UI (Hindi/English), easy rollout (pilot → nationwide).</a:t>
            </a:r>
            <a:endParaRPr lang="en-IN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273CC-F6C0-51A8-8E22-FCDF796F2DC1}"/>
              </a:ext>
            </a:extLst>
          </p:cNvPr>
          <p:cNvSpPr txBox="1"/>
          <p:nvPr/>
        </p:nvSpPr>
        <p:spPr>
          <a:xfrm>
            <a:off x="5730188" y="1327399"/>
            <a:ext cx="6349706" cy="2009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/>
              <a:t>2. Business Potential</a:t>
            </a:r>
          </a:p>
          <a:p>
            <a:r>
              <a:rPr lang="en-IN" sz="1600" dirty="0"/>
              <a:t>👨‍🌾 </a:t>
            </a:r>
            <a:r>
              <a:rPr lang="en-IN" sz="1600" b="1" dirty="0"/>
              <a:t>Target Users</a:t>
            </a:r>
            <a:r>
              <a:rPr lang="en-IN" sz="1600" dirty="0"/>
              <a:t> – Farmers, FPOs, NGOs, Govt agencies.</a:t>
            </a:r>
            <a:br>
              <a:rPr lang="en-IN" sz="1600" dirty="0"/>
            </a:br>
            <a:r>
              <a:rPr lang="en-IN" sz="1600" dirty="0"/>
              <a:t>💼 </a:t>
            </a:r>
            <a:r>
              <a:rPr lang="en-IN" sz="1600" b="1" dirty="0"/>
              <a:t>Revenue Models</a:t>
            </a:r>
            <a:r>
              <a:rPr lang="en-IN" sz="1600" dirty="0"/>
              <a:t> – Freemium (basic free, premium paid), B2B/B2G,</a:t>
            </a:r>
          </a:p>
          <a:p>
            <a:r>
              <a:rPr lang="en-IN" sz="1600" dirty="0" err="1"/>
              <a:t>agri</a:t>
            </a:r>
            <a:r>
              <a:rPr lang="en-IN" sz="1600" dirty="0"/>
              <a:t>-input tie-ups.</a:t>
            </a:r>
            <a:br>
              <a:rPr lang="en-IN" sz="1600" dirty="0"/>
            </a:br>
            <a:r>
              <a:rPr lang="en-IN" sz="1600" dirty="0"/>
              <a:t>📈 </a:t>
            </a:r>
            <a:r>
              <a:rPr lang="en-IN" sz="1600" b="1" dirty="0"/>
              <a:t>Market Size</a:t>
            </a:r>
            <a:r>
              <a:rPr lang="en-IN" sz="1600" dirty="0"/>
              <a:t> – India’s AgriTech sector projected at </a:t>
            </a:r>
            <a:r>
              <a:rPr lang="en-IN" sz="1600" b="1" dirty="0"/>
              <a:t>$24B by 2025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🌍 </a:t>
            </a:r>
            <a:r>
              <a:rPr lang="en-IN" sz="1600" b="1" dirty="0"/>
              <a:t>Scalability</a:t>
            </a:r>
            <a:r>
              <a:rPr lang="en-IN" sz="1600" dirty="0"/>
              <a:t> – Expandable to more crops, Indian languages &amp; global markets.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F35B7-58C2-FA71-6CAB-F94DBF59675F}"/>
              </a:ext>
            </a:extLst>
          </p:cNvPr>
          <p:cNvSpPr txBox="1"/>
          <p:nvPr/>
        </p:nvSpPr>
        <p:spPr>
          <a:xfrm>
            <a:off x="97766" y="3868885"/>
            <a:ext cx="5397630" cy="14642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/>
              <a:t>3. Challenges &amp; Risks</a:t>
            </a:r>
          </a:p>
          <a:p>
            <a:r>
              <a:rPr lang="en-IN" sz="1600" dirty="0"/>
              <a:t>📊 </a:t>
            </a:r>
            <a:r>
              <a:rPr lang="en-IN" sz="1600" b="1" dirty="0"/>
              <a:t>Data Gaps</a:t>
            </a:r>
            <a:r>
              <a:rPr lang="en-IN" sz="1600" dirty="0"/>
              <a:t> – Limited soil/crop datasets.</a:t>
            </a:r>
            <a:br>
              <a:rPr lang="en-IN" sz="1600" dirty="0"/>
            </a:br>
            <a:r>
              <a:rPr lang="en-IN" sz="1600" dirty="0"/>
              <a:t>📶 </a:t>
            </a:r>
            <a:r>
              <a:rPr lang="en-IN" sz="1600" b="1" dirty="0"/>
              <a:t>Connectivity</a:t>
            </a:r>
            <a:r>
              <a:rPr lang="en-IN" sz="1600" dirty="0"/>
              <a:t> – Poor rural internet coverage.</a:t>
            </a:r>
            <a:br>
              <a:rPr lang="en-IN" sz="1600" dirty="0"/>
            </a:br>
            <a:r>
              <a:rPr lang="en-IN" sz="1600" dirty="0"/>
              <a:t>📱 </a:t>
            </a:r>
            <a:r>
              <a:rPr lang="en-IN" sz="1600" b="1" dirty="0"/>
              <a:t>Farmer Adoption</a:t>
            </a:r>
            <a:r>
              <a:rPr lang="en-IN" sz="1600" dirty="0"/>
              <a:t> – Low digital literacy, trust gap.</a:t>
            </a:r>
            <a:br>
              <a:rPr lang="en-IN" sz="1600" dirty="0"/>
            </a:br>
            <a:r>
              <a:rPr lang="en-IN" sz="1600" dirty="0"/>
              <a:t>🌾 </a:t>
            </a:r>
            <a:r>
              <a:rPr lang="en-IN" sz="1600" b="1" dirty="0"/>
              <a:t>Regional Variability</a:t>
            </a:r>
            <a:r>
              <a:rPr lang="en-IN" sz="1600" dirty="0"/>
              <a:t> – Different soils &amp; climate zones.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12B6C-2CE6-5DA5-273C-0B11A6A00F1B}"/>
              </a:ext>
            </a:extLst>
          </p:cNvPr>
          <p:cNvSpPr txBox="1"/>
          <p:nvPr/>
        </p:nvSpPr>
        <p:spPr>
          <a:xfrm>
            <a:off x="5618083" y="3494224"/>
            <a:ext cx="6573917" cy="22814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/>
              <a:t>4.Strategies to Overcome Challenges</a:t>
            </a:r>
          </a:p>
          <a:p>
            <a:r>
              <a:rPr lang="en-IN" sz="1600" dirty="0"/>
              <a:t>🛰️ </a:t>
            </a:r>
            <a:r>
              <a:rPr lang="en-IN" sz="1600" b="1" dirty="0"/>
              <a:t>Data Gaps →</a:t>
            </a:r>
            <a:r>
              <a:rPr lang="en-IN" sz="1600" dirty="0"/>
              <a:t> Use govt + satellite NDVI/soil moisture + crowdsourced inputs.</a:t>
            </a:r>
            <a:br>
              <a:rPr lang="en-IN" sz="1600" dirty="0"/>
            </a:br>
            <a:r>
              <a:rPr lang="en-IN" sz="1600" dirty="0"/>
              <a:t>📲 </a:t>
            </a:r>
            <a:r>
              <a:rPr lang="en-IN" sz="1600" b="1" dirty="0"/>
              <a:t>Connectivity →</a:t>
            </a:r>
            <a:r>
              <a:rPr lang="en-IN" sz="1600" dirty="0"/>
              <a:t> Offline-first + SMS/IVR-based advisories.</a:t>
            </a:r>
            <a:br>
              <a:rPr lang="en-IN" sz="1600" dirty="0"/>
            </a:br>
            <a:r>
              <a:rPr lang="en-IN" sz="1600" dirty="0"/>
              <a:t>🗣️ </a:t>
            </a:r>
            <a:r>
              <a:rPr lang="en-IN" sz="1600" b="1" dirty="0"/>
              <a:t>Adoption →</a:t>
            </a:r>
            <a:r>
              <a:rPr lang="en-IN" sz="1600" dirty="0"/>
              <a:t> Bilingual UI, voice guidance, simple icons.</a:t>
            </a:r>
            <a:br>
              <a:rPr lang="en-IN" sz="1600" dirty="0"/>
            </a:br>
            <a:r>
              <a:rPr lang="en-IN" sz="1600" dirty="0"/>
              <a:t>🔄 </a:t>
            </a:r>
            <a:r>
              <a:rPr lang="en-IN" sz="1600" b="1" dirty="0"/>
              <a:t>Sustainability →</a:t>
            </a:r>
            <a:r>
              <a:rPr lang="en-IN" sz="1600" dirty="0"/>
              <a:t> Value-add features (market price alerts, pest warnings).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07DA402-E2D2-E0A6-FF51-CB623204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31"/>
          <a:stretch>
            <a:fillRect/>
          </a:stretch>
        </p:blipFill>
        <p:spPr>
          <a:xfrm>
            <a:off x="4285710" y="1398604"/>
            <a:ext cx="7764776" cy="435449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93" y="1205694"/>
            <a:ext cx="4797814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Potential Impact on Target Audience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Target Audience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👩‍🌾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+10% yield, less input wastage, weather risk readiness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🤝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FPOs/Cooperatives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Better collective planning, stronger market power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🏛️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Reliable data for policy &amp; subsidies, boosts food security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858635-0576-B837-9CEF-6D5900769B0E}"/>
              </a:ext>
            </a:extLst>
          </p:cNvPr>
          <p:cNvSpPr txBox="1"/>
          <p:nvPr/>
        </p:nvSpPr>
        <p:spPr>
          <a:xfrm>
            <a:off x="0" y="3254540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Benefits of the Solution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Empowers small farmers, digital inclusion (Hindi), localized &amp; simple advisories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Higher yields &amp; income, reduced input costs, new revenue opportunities (insurance,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-inputs)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7A893-3229-155D-B5B5-C768C91AE5D0}"/>
              </a:ext>
            </a:extLst>
          </p:cNvPr>
          <p:cNvSpPr txBox="1"/>
          <p:nvPr/>
        </p:nvSpPr>
        <p:spPr>
          <a:xfrm>
            <a:off x="0" y="4696580"/>
            <a:ext cx="4797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Environmental Benefits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💧 Smart irrigation → efficient water use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Reduced chemicals → healthier soil &amp; ecosystems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Promotes sustainable farming practices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DEF32-6300-5413-3E50-11486C7B71EF}"/>
              </a:ext>
            </a:extLst>
          </p:cNvPr>
          <p:cNvCxnSpPr/>
          <p:nvPr/>
        </p:nvCxnSpPr>
        <p:spPr>
          <a:xfrm>
            <a:off x="39493" y="1246587"/>
            <a:ext cx="0" cy="1585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E1C8D0-180A-735B-5991-E9D9925F7E33}"/>
              </a:ext>
            </a:extLst>
          </p:cNvPr>
          <p:cNvCxnSpPr>
            <a:cxnSpLocks/>
          </p:cNvCxnSpPr>
          <p:nvPr/>
        </p:nvCxnSpPr>
        <p:spPr>
          <a:xfrm>
            <a:off x="39493" y="3194450"/>
            <a:ext cx="0" cy="1191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B99917-BEFA-8F97-53CC-A8EF1A5C82CA}"/>
              </a:ext>
            </a:extLst>
          </p:cNvPr>
          <p:cNvCxnSpPr>
            <a:cxnSpLocks/>
          </p:cNvCxnSpPr>
          <p:nvPr/>
        </p:nvCxnSpPr>
        <p:spPr>
          <a:xfrm>
            <a:off x="39493" y="4639535"/>
            <a:ext cx="0" cy="1011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14263" y="1395246"/>
            <a:ext cx="4351388" cy="475934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Datasets &amp; APIs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Data: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Crop yield statistics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ICAR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Agricultural datasets &amp; reports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OpenWeatherMap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Datasets: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India crop yield dataset (1997–2020)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Research Papers &amp; Articles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Crop Yield Prediction using Machine Learning Algorithms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AI for Agriculture in India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Related Solutions &amp; Case Studies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AI4AI (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Saagu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Baagu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 Project, Telangana):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21% increase in yields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AgriTech Market Reports: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$24B by 2025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Screenshots of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 link	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  <a:p>
            <a:pPr algn="ctr"/>
            <a:r>
              <a:rPr lang="en-US" b="1" dirty="0"/>
              <a:t>Coders</a:t>
            </a:r>
            <a:endParaRPr lang="en-IN" b="1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C14DDF-E4CD-183E-F13C-7C04DADC9E3C}"/>
              </a:ext>
            </a:extLst>
          </p:cNvPr>
          <p:cNvSpPr txBox="1"/>
          <p:nvPr/>
        </p:nvSpPr>
        <p:spPr>
          <a:xfrm>
            <a:off x="7089058" y="2035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7411E3-D1D1-3FE8-E7E4-71B82623B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09348"/>
              </p:ext>
            </p:extLst>
          </p:nvPr>
        </p:nvGraphicFramePr>
        <p:xfrm>
          <a:off x="4788976" y="1359522"/>
          <a:ext cx="7261509" cy="487669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37048">
                  <a:extLst>
                    <a:ext uri="{9D8B030D-6E8A-4147-A177-3AD203B41FA5}">
                      <a16:colId xmlns:a16="http://schemas.microsoft.com/office/drawing/2014/main" val="1968544285"/>
                    </a:ext>
                  </a:extLst>
                </a:gridCol>
                <a:gridCol w="1000326">
                  <a:extLst>
                    <a:ext uri="{9D8B030D-6E8A-4147-A177-3AD203B41FA5}">
                      <a16:colId xmlns:a16="http://schemas.microsoft.com/office/drawing/2014/main" val="85836118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473058412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459298358"/>
                    </a:ext>
                  </a:extLst>
                </a:gridCol>
                <a:gridCol w="2227035">
                  <a:extLst>
                    <a:ext uri="{9D8B030D-6E8A-4147-A177-3AD203B41FA5}">
                      <a16:colId xmlns:a16="http://schemas.microsoft.com/office/drawing/2014/main" val="17063787"/>
                    </a:ext>
                  </a:extLst>
                </a:gridCol>
              </a:tblGrid>
              <a:tr h="38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Feature</a:t>
                      </a:r>
                      <a:endParaRPr lang="en-IN" sz="13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Kisan Suvidha</a:t>
                      </a:r>
                      <a:endParaRPr lang="en-IN" sz="13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 err="1"/>
                        <a:t>Plantix</a:t>
                      </a:r>
                      <a:endParaRPr lang="en-IN" sz="13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 err="1"/>
                        <a:t>Farmonaut</a:t>
                      </a:r>
                      <a:endParaRPr lang="en-IN" sz="13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Proposed AI Platform</a:t>
                      </a:r>
                      <a:endParaRPr lang="en-IN" sz="13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797478"/>
                  </a:ext>
                </a:extLst>
              </a:tr>
              <a:tr h="546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Bilingual / Hindi Support</a:t>
                      </a:r>
                      <a:r>
                        <a:rPr lang="en-IN" sz="1050" dirty="0"/>
                        <a:t> 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✔ (Hindi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 (All Indian Major Languages)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87157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Uses Historical Crop Data</a:t>
                      </a:r>
                      <a:r>
                        <a:rPr lang="en-US" sz="1050"/>
                        <a:t> 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729775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Real-time Weather Data</a:t>
                      </a:r>
                      <a:r>
                        <a:rPr lang="en-IN" sz="1050" dirty="0"/>
                        <a:t> 🌦️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638210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050" b="1"/>
                        <a:t>Soil/Satellite Data (NDVI, pH)</a:t>
                      </a:r>
                      <a:r>
                        <a:rPr lang="it-IT" sz="1050"/>
                        <a:t> 🛰️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820004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AI/ML Yield Prediction</a:t>
                      </a:r>
                      <a:r>
                        <a:rPr lang="en-US" sz="1050"/>
                        <a:t> 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 (crop &amp; region-specific)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929825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Personalized Recommendations</a:t>
                      </a:r>
                      <a:r>
                        <a:rPr lang="en-IN" sz="1050"/>
                        <a:t> 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 (generic tips)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✔ (disease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 (NDVI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 (irrigation, fertilization, pest, disease)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037053"/>
                  </a:ext>
                </a:extLst>
              </a:tr>
              <a:tr h="546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Offline / SMS Support</a:t>
                      </a:r>
                      <a:r>
                        <a:rPr lang="en-IN" sz="1050"/>
                        <a:t> 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343943"/>
                  </a:ext>
                </a:extLst>
              </a:tr>
              <a:tr h="440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Scalability (All Crops/Regions)</a:t>
                      </a:r>
                      <a:r>
                        <a:rPr lang="en-US" sz="1050" dirty="0"/>
                        <a:t> 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 (limited)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✔ (nationwide &amp; global potential)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468097"/>
                  </a:ext>
                </a:extLst>
              </a:tr>
              <a:tr h="650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Expected Yield Impact</a:t>
                      </a:r>
                      <a:r>
                        <a:rPr lang="en-IN" sz="1050"/>
                        <a:t> 💰🌍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Low (awareness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Moderate (disease reduction)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Moderate (crop health monitoring)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High (≥10% yield increase)</a:t>
                      </a:r>
                      <a:endParaRPr lang="en-IN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40852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8425CE3-D1C2-BAC0-4754-AAC3562D53C4}"/>
              </a:ext>
            </a:extLst>
          </p:cNvPr>
          <p:cNvSpPr txBox="1"/>
          <p:nvPr/>
        </p:nvSpPr>
        <p:spPr>
          <a:xfrm>
            <a:off x="5455727" y="959412"/>
            <a:ext cx="4168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Comparison With Existing Platform :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9275</TotalTime>
  <Words>988</Words>
  <Application>Microsoft Office PowerPoint</Application>
  <PresentationFormat>Widescreen</PresentationFormat>
  <Paragraphs>139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Aarav Programmers</cp:lastModifiedBy>
  <cp:revision>163</cp:revision>
  <dcterms:created xsi:type="dcterms:W3CDTF">2013-12-12T18:46:50Z</dcterms:created>
  <dcterms:modified xsi:type="dcterms:W3CDTF">2025-09-30T11:42:54Z</dcterms:modified>
  <cp:category/>
</cp:coreProperties>
</file>